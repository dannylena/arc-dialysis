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54864" cy="499719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1A3D55">
                    <a:alpha val="30000"/>
                  </a:srgbClr>
                </a:solidFill>
              </a:rPr>
              <a:t>ADA</a:t>
            </a:r>
            <a:endParaRPr lang="en-US" sz="18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"/>
            <a:ext cx="1005840" cy="100584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508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 Compliant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Builder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Branded Word Document → Tagged Accessible PDF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64008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886200"/>
            <a:ext cx="1600200" cy="502920"/>
          </a:xfrm>
          <a:prstGeom prst="rect">
            <a:avLst/>
          </a:prstGeom>
          <a:solidFill>
            <a:srgbClr val="1A3D55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8862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38F"/>
                </a:solidFill>
              </a:rPr>
              <a:t>ADA Compliant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67128" y="3886200"/>
            <a:ext cx="1600200" cy="502920"/>
          </a:xfrm>
          <a:prstGeom prst="rect">
            <a:avLst/>
          </a:prstGeom>
          <a:solidFill>
            <a:srgbClr val="1A3D55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67128" y="38862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38F"/>
                </a:solidFill>
              </a:rPr>
              <a:t>WCAG 2.1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77056" y="3886200"/>
            <a:ext cx="1600200" cy="502920"/>
          </a:xfrm>
          <a:prstGeom prst="rect">
            <a:avLst/>
          </a:prstGeom>
          <a:solidFill>
            <a:srgbClr val="1A3D55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77056" y="38862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38F"/>
                </a:solidFill>
              </a:rPr>
              <a:t>Section 508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86984" y="3886200"/>
            <a:ext cx="1600200" cy="502920"/>
          </a:xfrm>
          <a:prstGeom prst="rect">
            <a:avLst/>
          </a:prstGeom>
          <a:solidFill>
            <a:srgbClr val="1A3D55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86984" y="38862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38F"/>
                </a:solidFill>
              </a:rPr>
              <a:t>PDF/UA Tagged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96912" y="3886200"/>
            <a:ext cx="1600200" cy="502920"/>
          </a:xfrm>
          <a:prstGeom prst="rect">
            <a:avLst/>
          </a:prstGeom>
          <a:solidFill>
            <a:srgbClr val="1A3D55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96912" y="38862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38F"/>
                </a:solidFill>
              </a:rPr>
              <a:t>Screen Reader Ready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3"/>
                </a:solidFill>
              </a:rPr>
              <a:t>arcdialysis.com  ·  Florida's Largest Kidney Care Practice  ·  (305) 448-6261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37490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BEFORE  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Original PDF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ARC-Dialysis-Caregiver-Family-Guide-2-18-26.pdf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  No heading structure — screen readers lost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  No document title metadata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  No language tags on content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  No navigation bookmarks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  No accessibility tree (StructTreeRoot)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</a:rPr>
              <a:t>✗  Fails Section 508 compliance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097280"/>
            <a:ext cx="374904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AFTER 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64592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Two Accessible Outputs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ARC-Dialysis-Caregiver-Family-Guide-2026-04-13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✓  H1/H2/H3 heading hierarchy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✓  Title + language metadata set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✓  Language tag on every run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✓  PDF bookmarks + outline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✓  StructTreeRoot confirmed present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✓  Passes ADA / WCAG 2.1 / Section 508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0 — The Two Inputs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</a:rPr>
              <a:t>Everything starts here — a source PDF and a Word letterhead template.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393192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📄  SOURCE PDF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D6B"/>
                </a:solidFill>
              </a:rPr>
              <a:t>ARC-Dialysis-Caregiver-Family-Guide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4D6B"/>
                </a:solidFill>
              </a:rPr>
              <a:t>2-18-26.pdf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566160" cy="0"/>
          </a:xfrm>
          <a:prstGeom prst="line">
            <a:avLst/>
          </a:prstGeom>
          <a:noFill/>
          <a:ln w="12700">
            <a:solidFill>
              <a:srgbClr val="E8ED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17 pages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Caregiver &amp; Family Guide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234 KB original file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6B75"/>
                </a:solidFill>
              </a:rPr>
              <a:t>Read by Claude vision (all pages)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6B75"/>
                </a:solidFill>
              </a:rPr>
              <a:t>Content fully extracted &amp; preserved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838F"/>
                </a:solidFill>
              </a:rPr>
              <a:t>+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937760" y="1417320"/>
            <a:ext cx="38404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417320"/>
            <a:ext cx="3840480" cy="548640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🗂  WORD TEMPLATE (.dotx)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2057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D6B"/>
                </a:solidFill>
              </a:rPr>
              <a:t>ARC-Dialysis-Kidney-Care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4D6B"/>
                </a:solidFill>
              </a:rPr>
              <a:t>Letterhead.dotx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0" y="2743200"/>
            <a:ext cx="3474720" cy="0"/>
          </a:xfrm>
          <a:prstGeom prst="line">
            <a:avLst/>
          </a:prstGeom>
          <a:noFill/>
          <a:ln w="12700">
            <a:solidFill>
              <a:srgbClr val="E8ED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7889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ARC Dialysis branding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Header: ARC logo image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Footer: 4960 SW 72nd Ave, Miami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6B75"/>
                </a:solidFill>
              </a:rPr>
              <a:t>Contains all ARC heading styles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6B75"/>
                </a:solidFill>
              </a:rPr>
              <a:t>Patched at runtime → opens as .docx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solidFill>
            <a:srgbClr val="E8EDF1"/>
          </a:solidFill>
          <a:ln w="12700">
            <a:solidFill>
              <a:srgbClr val="E8ED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Provide any PDF + any .dotx template — this workflow works for any company or brand.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4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6-Step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206240" cy="1188720"/>
          </a:xfrm>
          <a:prstGeom prst="rect">
            <a:avLst/>
          </a:prstGeom>
          <a:solidFill>
            <a:srgbClr val="172B3B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1155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EDE"/>
                </a:solidFill>
              </a:rPr>
              <a:t>Claude reads all 17 PDF pages via vision — every heading, paragraph, callout, bullet, quote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206240" cy="1188720"/>
          </a:xfrm>
          <a:prstGeom prst="rect">
            <a:avLst/>
          </a:prstGeom>
          <a:solidFill>
            <a:srgbClr val="172B3B"/>
          </a:solidFill>
          <a:ln w="1905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560320"/>
            <a:ext cx="640080" cy="6400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4414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 Template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834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EDE"/>
                </a:solidFill>
              </a:rPr>
              <a:t>Content-type in .dotx patched → python-docx opens it while preserving header logo &amp; footer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4206240" cy="1188720"/>
          </a:xfrm>
          <a:prstGeom prst="rect">
            <a:avLst/>
          </a:prstGeom>
          <a:solidFill>
            <a:srgbClr val="172B3B"/>
          </a:solidFill>
          <a:ln w="1905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886200"/>
            <a:ext cx="640080" cy="6400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37673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Rebuild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4160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EDE"/>
                </a:solidFill>
              </a:rPr>
              <a:t>Content reconstructed with real H1/H2/H3 Word heading styles — not bold 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206240" cy="1188720"/>
          </a:xfrm>
          <a:prstGeom prst="rect">
            <a:avLst/>
          </a:prstGeom>
          <a:solidFill>
            <a:srgbClr val="172B3B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123444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69280" y="111556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1508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EDE"/>
                </a:solidFill>
              </a:rPr>
              <a:t>Metadata, language tags on every run, callout boxes, List Paragraph bullets applied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4206240" cy="1188720"/>
          </a:xfrm>
          <a:prstGeom prst="rect">
            <a:avLst/>
          </a:prstGeom>
          <a:solidFill>
            <a:srgbClr val="172B3B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560320"/>
            <a:ext cx="640080" cy="64008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69280" y="24414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.docx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69280" y="28346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EDE"/>
                </a:solidFill>
              </a:rPr>
              <a:t>Branded, structured Word document saved with today's date in filename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206240" cy="1188720"/>
          </a:xfrm>
          <a:prstGeom prst="rect">
            <a:avLst/>
          </a:prstGeom>
          <a:solidFill>
            <a:srgbClr val="172B3B"/>
          </a:solidFill>
          <a:ln w="1905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886200"/>
            <a:ext cx="640080" cy="64008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669280" y="376732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PDF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69280" y="4160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EDE"/>
                </a:solidFill>
              </a:rPr>
              <a:t>Microsoft Word exports via AppleScript — produces best-in-class tagged, structured PDF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838F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75"/>
          </a:solidFill>
          <a:ln w="12700">
            <a:solidFill>
              <a:srgbClr val="006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Standards Applied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11704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24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WCAG 2.1 — 1.3.1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38912" y="13624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6B"/>
                </a:solidFill>
              </a:rPr>
              <a:t>Info &amp; Relationships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459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Real Heading 1/2/3 styles used — not bold text. Screen readers navigate by heading level.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50008"/>
            <a:ext cx="64008" cy="11704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WCAG 2.1 — 3.1.1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6609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6B"/>
                </a:solidFill>
              </a:rPr>
              <a:t>Language of Page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294436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w:lang set to en-US on every text run in the document. Required for assistive tech pronunciation.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48456"/>
            <a:ext cx="64008" cy="11704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721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WCAG 2.1 — 1.1.1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39593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6B"/>
                </a:solidFill>
              </a:rPr>
              <a:t>Non-text Content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8912" y="424281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Logo image carries alt text. No content conveyed by color alone.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64008" cy="11704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124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508 §1194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9472" y="13624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6B"/>
                </a:solidFill>
              </a:rPr>
              <a:t>Document Structure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16459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List Paragraph style for bullets. Callout boxes use left-border markup, not tables.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0008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350008"/>
            <a:ext cx="64008" cy="11704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PDF/UA — ISO 14289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19472" y="26609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6B"/>
                </a:solidFill>
              </a:rPr>
              <a:t>Tagged PDF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2944368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MarkInfo:Marked=True + StructTreeRoot confirmed in exported PDF via pypdf verification.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48456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48456"/>
            <a:ext cx="64008" cy="117043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721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WCAG 2.1 — 2.4.2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19472" y="39593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D6B"/>
                </a:solidFill>
              </a:rPr>
              <a:t>Page Titled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424281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Document title, author, subject, keywords set in core_properties before save.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Verified Outputs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0" cy="594360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📝  WORD DOCUMENT  (.docx)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ARC-Dialysis-Caregiver-Family-Guide-2026-04-13.docx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128 KB  ·  All 8 Parts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3474720" cy="0"/>
          </a:xfrm>
          <a:prstGeom prst="line">
            <a:avLst/>
          </a:prstGeom>
          <a:noFill/>
          <a:ln w="12700">
            <a:solidFill>
              <a:srgbClr val="E8ED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915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D6B"/>
                </a:solidFill>
              </a:rPr>
              <a:t>✓  H1 navy banner → H2 section → H3 subsection hierarchy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✓  ARC letterhead header (logo) + footer preserved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85292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D6B"/>
                </a:solidFill>
              </a:rPr>
              <a:t>✓  Document title, author, language set in metadata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099816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✓  Language tag (en-US) on every single text run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34670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D6B"/>
                </a:solidFill>
              </a:rPr>
              <a:t>✓  Left-border callout boxes throughout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59359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✓  List Paragraph style on all bullet points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D6B"/>
                </a:solidFill>
              </a:rPr>
              <a:t>✓  8 Parts fully structured and accessible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1005840"/>
            <a:ext cx="3840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005840"/>
            <a:ext cx="384048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0058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📑  TAGGED PDF  (.pdf)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16642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ARC-Dialysis-Caregiver-Family-Guide-2026-04-13.pdf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261 KB  ·  16 Pages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20640" y="2267712"/>
            <a:ext cx="3474720" cy="0"/>
          </a:xfrm>
          <a:prstGeom prst="line">
            <a:avLst/>
          </a:prstGeom>
          <a:noFill/>
          <a:ln w="12700">
            <a:solidFill>
              <a:srgbClr val="E8ED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35915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/MarkInfo: Marked = True  ← confirmed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2606040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/StructTreeRoot PRESENT  ← confirmed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74920" y="2852928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/Lang: en  ← confirmed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3099816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/Outlines (bookmarks) PRESENT  ← confirmed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3346704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Exported by Microsoft Word (best-in-class)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359359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Passes PDF/UA + Section 508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840480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Verified with pypdf after export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B75"/>
          </a:solidFill>
          <a:ln w="12700">
            <a:solidFill>
              <a:srgbClr val="006B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Reusable Skill — ada-compliant-document-builder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 Saved — Ready to Fire Any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46634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Trigger phrases: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"convert to accessible doc"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this ADA compliant"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"rebuild this PDF"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"508 compliant document"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What you provide: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  • Any source PDF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  • Any .dotx Word template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  • Company brand colors (optional — Claude detects them)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</a:rPr>
              <a:t>What you get: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  • Accessible .docx with dated filename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</a:rPr>
              <a:t>  • Tagged .pdf with verified StructTreeRoot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005840"/>
            <a:ext cx="3200400" cy="3794760"/>
          </a:xfrm>
          <a:prstGeom prst="rect">
            <a:avLst/>
          </a:prstGeom>
          <a:solidFill>
            <a:srgbClr val="1E4D6B"/>
          </a:solidFill>
          <a:ln w="12700">
            <a:solidFill>
              <a:srgbClr val="1E4D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77840" y="1097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For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Company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60720" y="2084832"/>
            <a:ext cx="283464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2402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</a:rPr>
              <a:t>★  ARC Dialysis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25877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EDE"/>
                </a:solidFill>
              </a:rPr>
              <a:t>·  Village Auto Body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9352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EDE"/>
                </a:solidFill>
              </a:rPr>
              <a:t>·  BPSG — Barrington Packaging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328269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EDE"/>
                </a:solidFill>
              </a:rPr>
              <a:t>·  Any hospital / clinic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36301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EDE"/>
                </a:solidFill>
              </a:rPr>
              <a:t>·  Law firm / financial firm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9776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EDE"/>
                </a:solidFill>
              </a:rPr>
              <a:t>·  Government agency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432511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EDE"/>
                </a:solidFill>
              </a:rPr>
              <a:t>·  Nonprofit organization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 — In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25400">
            <a:solidFill>
              <a:srgbClr val="0083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3200400"/>
          </a:xfrm>
          <a:prstGeom prst="rect">
            <a:avLst/>
          </a:prstGeom>
          <a:solidFill>
            <a:srgbClr val="172B3B"/>
          </a:solidFill>
          <a:ln w="254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65176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468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EDE"/>
                </a:solidFill>
              </a:rPr>
              <a:t>Read PDF → Patch template → Rebuild with real Word heading styles → Apply accessibility markup → Save .docx → Export tagged PDF via Word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325880"/>
            <a:ext cx="2651760" cy="3200400"/>
          </a:xfrm>
          <a:prstGeom prst="rect">
            <a:avLst/>
          </a:prstGeom>
          <a:solidFill>
            <a:srgbClr val="172B3B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25880"/>
            <a:ext cx="265176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Files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2468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EDE"/>
                </a:solidFill>
              </a:rPr>
              <a:t>.docx: 128 KB, 8 Parts, H1/H2/H3 structure, ARC branding, language tags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CEDE"/>
                </a:solidFill>
              </a:rPr>
              <a:t>.pdf: 261 KB, 16 pages, MarkInfo:Marked, StructTreeRoot, Bookmarks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1325880"/>
            <a:ext cx="2651760" cy="3200400"/>
          </a:xfrm>
          <a:prstGeom prst="rect">
            <a:avLst/>
          </a:prstGeom>
          <a:solidFill>
            <a:srgbClr val="172B3B"/>
          </a:solidFill>
          <a:ln w="254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325880"/>
            <a:ext cx="2651760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325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Skill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1920240"/>
            <a:ext cx="24688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EDE"/>
                </a:solidFill>
              </a:rPr>
              <a:t>ada-compliant-document-builder — saved to Claude, fires on any PDF + .dotx for any company. Reusable forever.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4754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8FA3"/>
                </a:solidFill>
              </a:rPr>
              <a:t>ARC Dialysis  ·  Florida's Largest Kidney Care Practice  ·  arcdialysis.com  ·  (305) 448-6261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Compliant Document Builder</dc:title>
  <dc:subject>Workflow Overview</dc:subject>
  <dc:creator>ARC Dialysis</dc:creator>
  <cp:lastModifiedBy>ARC Dialysis</cp:lastModifiedBy>
  <cp:revision>1</cp:revision>
  <dcterms:created xsi:type="dcterms:W3CDTF">2026-04-13T09:57:04Z</dcterms:created>
  <dcterms:modified xsi:type="dcterms:W3CDTF">2026-04-13T09:57:04Z</dcterms:modified>
</cp:coreProperties>
</file>